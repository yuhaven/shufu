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d9753516b84bc9" /><Relationship Type="http://schemas.openxmlformats.org/officeDocument/2006/relationships/extended-properties" Target="/docProps/app.xml" Id="Re034a4e11392473c" /><Relationship Type="http://schemas.openxmlformats.org/officeDocument/2006/relationships/officeDocument" Target="/ppt/presentation.xml" Id="Rd63a209898d344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04a9a2d8684d20"/>
  </p:sldMasterIdLst>
  <p:notesMasterIdLst>
    <p:notesMasterId xmlns:r="http://schemas.openxmlformats.org/officeDocument/2006/relationships" r:id="Rc45d77d9727d4f84"/>
  </p:notesMasterIdLst>
  <p:sldIdLst>
    <p:sldId xmlns:r="http://schemas.openxmlformats.org/officeDocument/2006/relationships" id="256" r:id="Raa5f2b6fdd3a4e62"/>
    <p:sldId xmlns:r="http://schemas.openxmlformats.org/officeDocument/2006/relationships" id="257" r:id="R257de926301c4ce5"/>
    <p:sldId xmlns:r="http://schemas.openxmlformats.org/officeDocument/2006/relationships" id="258" r:id="Rf63f4b126b18475e"/>
    <p:sldId xmlns:r="http://schemas.openxmlformats.org/officeDocument/2006/relationships" id="259" r:id="R38ef94645fee4bdb"/>
    <p:sldId xmlns:r="http://schemas.openxmlformats.org/officeDocument/2006/relationships" id="260" r:id="R1b26feb1757847bc"/>
    <p:sldId xmlns:r="http://schemas.openxmlformats.org/officeDocument/2006/relationships" id="261" r:id="Rffc3484bdbfa4074"/>
    <p:sldId xmlns:r="http://schemas.openxmlformats.org/officeDocument/2006/relationships" id="262" r:id="R515689758dbb4f19"/>
    <p:sldId xmlns:r="http://schemas.openxmlformats.org/officeDocument/2006/relationships" id="263" r:id="Rfa9c5032a8e44e9f"/>
    <p:sldId xmlns:r="http://schemas.openxmlformats.org/officeDocument/2006/relationships" id="264" r:id="R161ea1849ee040e8"/>
    <p:sldId xmlns:r="http://schemas.openxmlformats.org/officeDocument/2006/relationships" id="265" r:id="Reb38947501ce404e"/>
    <p:sldId xmlns:r="http://schemas.openxmlformats.org/officeDocument/2006/relationships" id="266" r:id="R06183b2f4a4f4094"/>
    <p:sldId xmlns:r="http://schemas.openxmlformats.org/officeDocument/2006/relationships" id="267" r:id="R7d75dfeecb51400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538fbc577c45ea" /><Relationship Type="http://schemas.openxmlformats.org/officeDocument/2006/relationships/slideMaster" Target="/ppt/slideMasters/slideMaster1.xml" Id="Rad04a9a2d8684d20" /><Relationship Type="http://schemas.openxmlformats.org/officeDocument/2006/relationships/notesMaster" Target="/ppt/notesMasters/notesMaster1.xml" Id="Rc45d77d9727d4f84" /><Relationship Type="http://schemas.openxmlformats.org/officeDocument/2006/relationships/presProps" Target="/ppt/presProps.xml" Id="R7b0bceec2eb04c29" /><Relationship Type="http://schemas.openxmlformats.org/officeDocument/2006/relationships/tableStyles" Target="/ppt/tableStyles.xml" Id="Rfb2d18bc1e234df6" /><Relationship Type="http://schemas.openxmlformats.org/officeDocument/2006/relationships/slide" Target="/ppt/slides/slide1.xml" Id="Raa5f2b6fdd3a4e62" /><Relationship Type="http://schemas.openxmlformats.org/officeDocument/2006/relationships/slide" Target="/ppt/slides/slide2.xml" Id="R257de926301c4ce5" /><Relationship Type="http://schemas.openxmlformats.org/officeDocument/2006/relationships/slide" Target="/ppt/slides/slide3.xml" Id="Rf63f4b126b18475e" /><Relationship Type="http://schemas.openxmlformats.org/officeDocument/2006/relationships/slide" Target="/ppt/slides/slide4.xml" Id="R38ef94645fee4bdb" /><Relationship Type="http://schemas.openxmlformats.org/officeDocument/2006/relationships/slide" Target="/ppt/slides/slide5.xml" Id="R1b26feb1757847bc" /><Relationship Type="http://schemas.openxmlformats.org/officeDocument/2006/relationships/slide" Target="/ppt/slides/slide6.xml" Id="Rffc3484bdbfa4074" /><Relationship Type="http://schemas.openxmlformats.org/officeDocument/2006/relationships/slide" Target="/ppt/slides/slide7.xml" Id="R515689758dbb4f19" /><Relationship Type="http://schemas.openxmlformats.org/officeDocument/2006/relationships/slide" Target="/ppt/slides/slide8.xml" Id="Rfa9c5032a8e44e9f" /><Relationship Type="http://schemas.openxmlformats.org/officeDocument/2006/relationships/slide" Target="/ppt/slides/slide9.xml" Id="R161ea1849ee040e8" /><Relationship Type="http://schemas.openxmlformats.org/officeDocument/2006/relationships/slide" Target="/ppt/slides/slide10.xml" Id="Reb38947501ce404e" /><Relationship Type="http://schemas.openxmlformats.org/officeDocument/2006/relationships/slide" Target="/ppt/slides/slide11.xml" Id="R06183b2f4a4f4094" /><Relationship Type="http://schemas.openxmlformats.org/officeDocument/2006/relationships/slide" Target="/ppt/slides/slide12.xml" Id="R7d75dfeecb5140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68fa46233142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f2ea85db474365" /><Relationship Type="http://schemas.openxmlformats.org/officeDocument/2006/relationships/notesMaster" Target="/ppt/notesMasters/notesMaster1.xml" Id="Rae00d984e49e49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dcb8b6300f4f41" /><Relationship Type="http://schemas.openxmlformats.org/officeDocument/2006/relationships/notesMaster" Target="/ppt/notesMasters/notesMaster1.xml" Id="R17383b6e84124c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da3dd18f57405a" /><Relationship Type="http://schemas.openxmlformats.org/officeDocument/2006/relationships/notesMaster" Target="/ppt/notesMasters/notesMaster1.xml" Id="Rd12ec80cc3ae4d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d6a995cd64489f" /><Relationship Type="http://schemas.openxmlformats.org/officeDocument/2006/relationships/notesMaster" Target="/ppt/notesMasters/notesMaster1.xml" Id="R8c1c9b112fdf41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236caacb664980" /><Relationship Type="http://schemas.openxmlformats.org/officeDocument/2006/relationships/notesMaster" Target="/ppt/notesMasters/notesMaster1.xml" Id="Rc4b4b8c2f20841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2bf4aa6b3b46fe" /><Relationship Type="http://schemas.openxmlformats.org/officeDocument/2006/relationships/notesMaster" Target="/ppt/notesMasters/notesMaster1.xml" Id="Rc355a410fea349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090363f69840c7" /><Relationship Type="http://schemas.openxmlformats.org/officeDocument/2006/relationships/notesMaster" Target="/ppt/notesMasters/notesMaster1.xml" Id="R7706149ff95a4e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a59bbc0aff4032" /><Relationship Type="http://schemas.openxmlformats.org/officeDocument/2006/relationships/notesMaster" Target="/ppt/notesMasters/notesMaster1.xml" Id="Rd6901f5c62d448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d843aef55145c3" /><Relationship Type="http://schemas.openxmlformats.org/officeDocument/2006/relationships/notesMaster" Target="/ppt/notesMasters/notesMaster1.xml" Id="R0f46abb563bc47a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0e225b1d5644785" /><Relationship Type="http://schemas.openxmlformats.org/officeDocument/2006/relationships/notesMaster" Target="/ppt/notesMasters/notesMaster1.xml" Id="R4bf62a5f4b634b4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692b97877f84734" /><Relationship Type="http://schemas.openxmlformats.org/officeDocument/2006/relationships/notesMaster" Target="/ppt/notesMasters/notesMaster1.xml" Id="R1e0db7c91579463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202dd3242d14b9b" /><Relationship Type="http://schemas.openxmlformats.org/officeDocument/2006/relationships/notesMaster" Target="/ppt/notesMasters/notesMaster1.xml" Id="R3b527e1d0c3140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d781ea65a24f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da64c4c70548b1" /><Relationship Type="http://schemas.openxmlformats.org/officeDocument/2006/relationships/slideLayout" Target="/ppt/slideLayouts/slideLayout1.xml" Id="R68bc8aa7894e40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bc8aa7894e40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dee3cf8eb4541" /><Relationship Type="http://schemas.openxmlformats.org/officeDocument/2006/relationships/notesSlide" Target="/ppt/notesSlides/notesSlide1.xml" Id="Rd84088e309c54b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cb00f507c14f51" /><Relationship Type="http://schemas.openxmlformats.org/officeDocument/2006/relationships/notesSlide" Target="/ppt/notesSlides/notesSlide2.xml" Id="Rf8ac1f6203d046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829d1ef0341cd" /><Relationship Type="http://schemas.openxmlformats.org/officeDocument/2006/relationships/notesSlide" Target="/ppt/notesSlides/notesSlide3.xml" Id="Rd246ef1f443c41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6ed7844364d4a" /><Relationship Type="http://schemas.openxmlformats.org/officeDocument/2006/relationships/notesSlide" Target="/ppt/notesSlides/notesSlide4.xml" Id="R8300ac1e940248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8bc968d6e4bf6" /><Relationship Type="http://schemas.openxmlformats.org/officeDocument/2006/relationships/notesSlide" Target="/ppt/notesSlides/notesSlide5.xml" Id="Rb9dfdf6911dd45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bc01b12ebe4003" /><Relationship Type="http://schemas.openxmlformats.org/officeDocument/2006/relationships/notesSlide" Target="/ppt/notesSlides/notesSlide6.xml" Id="R99a1d117b5e647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edca9b4474c3d" /><Relationship Type="http://schemas.openxmlformats.org/officeDocument/2006/relationships/notesSlide" Target="/ppt/notesSlides/notesSlide7.xml" Id="R542db789d26b47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30f8900d874f5a" /><Relationship Type="http://schemas.openxmlformats.org/officeDocument/2006/relationships/notesSlide" Target="/ppt/notesSlides/notesSlide8.xml" Id="Rd9d56a42e25748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b394648aa481b" /><Relationship Type="http://schemas.openxmlformats.org/officeDocument/2006/relationships/notesSlide" Target="/ppt/notesSlides/notesSlide9.xml" Id="R4b29a306815a44d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a6a3f80244e38" /><Relationship Type="http://schemas.openxmlformats.org/officeDocument/2006/relationships/notesSlide" Target="/ppt/notesSlides/notesSlide10.xml" Id="R36f9f06abec6446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bdf389bc224262" /><Relationship Type="http://schemas.openxmlformats.org/officeDocument/2006/relationships/notesSlide" Target="/ppt/notesSlides/notesSlide11.xml" Id="R69bb7b2e639246d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a1747da3d84e6a" /><Relationship Type="http://schemas.openxmlformats.org/officeDocument/2006/relationships/notesSlide" Target="/ppt/notesSlides/notesSlide12.xml" Id="Rc0238220127d45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17A0CB-2DB1-4B89-B01C-86E7A8EB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rPr>
              <a:t>OPEN-SOURCE MODEL RUNTIME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4FA287-BBB4-43EB-BDF2-67AAEAA9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571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ShuFu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5F2997-734A-40F2-8D2E-557BD154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鼠符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BF6F30-8E27-40B5-AF20-30AEBEC8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让设备获得智慧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6944DA-BC28-4A7F-A4C0-FC8E59C0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一个安装入口 · 一套调用协议 · 一段可延续的记忆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0D498D-F726-460E-9C46-36CA3228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543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3C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20E978-129A-4B6E-85B8-19D31C3F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1485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rPr>
              <a:t>Windows / Linux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B3A12D-42EB-4903-8687-9B910B44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495800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3C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0C54D2-D3C2-4F50-9613-56E04A0B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5148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rPr>
              <a:t>Android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256470-5730-4B92-9030-56A4191D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95800"/>
            <a:ext cx="9334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3C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1B7B8E-11DF-45D0-A67E-BA98AEA7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14850"/>
            <a:ext cx="742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rPr>
              <a:t>ESP32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738DCD-E17F-4673-ACBF-75048911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162050"/>
            <a:ext cx="2724150" cy="2724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227"/>
          </a:solidFill>
          <a:ln xmlns:a="http://schemas.openxmlformats.org/drawingml/2006/main" w="28575">
            <a:solidFill>
              <a:srgbClr val="3DDC9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65D565-8000-40D4-897C-17ABCCB9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657350"/>
            <a:ext cx="1733550" cy="1733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19050">
            <a:solidFill>
              <a:srgbClr val="FFB45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2FD598-8411-4CEA-9B81-8064BB8A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193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DC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9E75AF-2E74-42A7-8FDB-759AA881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600325"/>
            <a:ext cx="762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DC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F3601A-31A2-4592-AEB3-DAD3A696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943225"/>
            <a:ext cx="6286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0B1046-0505-48C7-8A1F-7C73781D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295775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INSTALL → INVOKE → REMEMBER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9F2819-39D7-48A1-8053-E03FB2FC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v0.1 DESIGN + RUNNING PROTOTYPE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320BF7-6531-4930-AC6C-CF13D854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00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05188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5C3808-78ED-4A06-A848-262C1D05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rPr>
              <a:t>WHY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AC835D-6ECC-4E5E-9161-7F2DC497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今天的模型能力被平台切碎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688F1C-0D72-43BB-9797-7D10737B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00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A48149-2295-45FB-B867-B1A9093B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723A4-8985-49EF-B0DF-882F5670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同一个“调用模型”的目标，被迫写成三套工程。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8E1D8F-6ED9-40A4-BA18-332D0831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33528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5191D"/>
          </a:solidFill>
          <a:ln xmlns:a="http://schemas.openxmlformats.org/drawingml/2006/main" w="9525">
            <a:solidFill>
              <a:srgbClr val="2C343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E20C4E-FB2D-4C58-B8F9-2980A894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76200" cy="1466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DC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01B334-CA3C-43C6-A9F5-D9A5756B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Windows / Linux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97B31A-B7BE-478B-A4BC-FBB727FD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28003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模型格式、GPU 驱动、服务启动、API 兼容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EFE07E-4B90-4BFE-A7C1-7814A4F0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47900"/>
            <a:ext cx="33528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5191D"/>
          </a:solidFill>
          <a:ln xmlns:a="http://schemas.openxmlformats.org/drawingml/2006/main" w="9525">
            <a:solidFill>
              <a:srgbClr val="2C343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7E6E6E-FDC9-46D3-A5E6-03CA4020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19350"/>
            <a:ext cx="76200" cy="1466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687470-0F29-46D0-B4BF-EDADDC24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003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Android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DEFB39-95C1-46CA-8EBE-D12E8949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05100"/>
            <a:ext cx="28003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ABI、端侧算力、生命周期、局域网连接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91ACF5-1A63-4DF8-A467-5E501359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47900"/>
            <a:ext cx="3810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5191D"/>
          </a:solidFill>
          <a:ln xmlns:a="http://schemas.openxmlformats.org/drawingml/2006/main" w="9525">
            <a:solidFill>
              <a:srgbClr val="2C343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4B61EE-1FD7-49B5-B015-F134E72A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19350"/>
            <a:ext cx="76200" cy="1466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B02F0F-BDAF-4AD3-BC1E-DC2577DF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0030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ESP32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02FA9B-DF67-497F-A5DE-817FF802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05100"/>
            <a:ext cx="32575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资源受限、协议裁剪、无法本地承载大模型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B42D70-41C3-49AD-BD93-798A4D1C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09728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C2227"/>
          </a:solidFill>
          <a:ln xmlns:a="http://schemas.openxmlformats.org/drawingml/2006/main" w="9525">
            <a:solidFill>
              <a:srgbClr val="2C34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BE3C4F-1F09-4538-9ECB-7D81EF19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482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真正的问题不是“缺少模型”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B2DD2D-8524-42C9-89C2-7667AA18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而是设备没有统一、可安装、可延续的模型能力入口。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F9BEEC-0178-4DFF-877C-AA81E218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ShuFu v0.1 · 2026-06-19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A9CAC5-0D26-49C7-9067-22A4DA0D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43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396317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15084C-22D9-4CB9-8B51-66F995F8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rPr>
              <a:t>ONE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CE27D-2237-4DEE-A1A5-4A677DEF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只做一件事：安装后即可使用模型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C0B7EB-9761-4ECE-B1B5-B4814845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00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342F8-6DB5-4109-8BDB-C3181217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120C2D-9113-4E97-876C-0038EB4B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342900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5191D"/>
          </a:solidFill>
          <a:ln xmlns:a="http://schemas.openxmlformats.org/drawingml/2006/main" w="9525">
            <a:solidFill>
              <a:srgbClr val="2C34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DD790A-C8B6-45FD-AA1E-FE1110DE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rPr>
              <a:t>RUN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F77D82-783D-4848-8CA6-AC9BF7EA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本地运行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BC7B14-6579-4546-BFEE-0727B252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2895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Windows / Linux 与高性能 Android</a:t>
            </a:r>
          </a:p>
          <a:p xmlns:a="http://schemas.openxmlformats.org/drawingml/2006/main">
            <a:pPr algn="l">
              <a:defRPr sz="1275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加载本地模型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923A0E-B979-42D0-8B43-60523929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2971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C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7034A4-C81C-42A6-A094-2619173F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95450"/>
            <a:ext cx="342900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C2227"/>
          </a:solidFill>
          <a:ln xmlns:a="http://schemas.openxmlformats.org/drawingml/2006/main" w="9525">
            <a:solidFill>
              <a:srgbClr val="2C343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D330EB-72D1-4D13-BEA4-043363E7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05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CALL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3D119F-DEB1-40A4-B761-2EFC9EAE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241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统一调用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25914D-FD47-419B-89D4-D72AC98E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52750"/>
            <a:ext cx="2895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Android 与 ESP32</a:t>
            </a:r>
          </a:p>
          <a:p xmlns:a="http://schemas.openxmlformats.org/drawingml/2006/main">
            <a:pPr algn="l">
              <a:defRPr sz="1275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调用附近或远程 ShuFu Node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48D3A9-C1BC-487E-8CA9-15F6AC75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76700"/>
            <a:ext cx="2971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A73C4D-4F3D-46B6-B412-98B98D2D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95450"/>
            <a:ext cx="342900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5191D"/>
          </a:solidFill>
          <a:ln xmlns:a="http://schemas.openxmlformats.org/drawingml/2006/main" w="9525">
            <a:solidFill>
              <a:srgbClr val="2C34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83C2DB-E658-4D34-A407-F8A9F816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05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B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6B6B"/>
                </a:solidFill>
                <a:latin typeface="Microsoft YaHei"/>
                <a:ea typeface="Microsoft YaHei"/>
                <a:cs typeface="Microsoft YaHei"/>
              </a:rPr>
              <a:t>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D4DEEF-800F-4F94-9965-5114083F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241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安全行动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C3039D-572E-4641-8F43-3112A3C3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52750"/>
            <a:ext cx="2895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模型只调用宿主预注册工具</a:t>
            </a:r>
          </a:p>
          <a:p xmlns:a="http://schemas.openxmlformats.org/drawingml/2006/main">
            <a:pPr algn="l">
              <a:defRPr sz="1275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让设备真正“活起来”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9E2CAA-AD87-4221-9411-588EEEDD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76700"/>
            <a:ext cx="2971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7C5C11-3E92-429A-8BFF-37D99EFD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不做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C2F2D3-1088-4A81-813D-3711B2CA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9650"/>
            <a:ext cx="1504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C22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D7B44D-A8CC-4ED3-8C06-EC929B5A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387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训练平台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2185D2-268B-45B4-BB2D-4221C7EA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819650"/>
            <a:ext cx="1504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C22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32D96D-E0B7-4745-A05C-8B44C028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387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商业云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C93F1A-E10E-4CDA-AE73-D148BFF5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19650"/>
            <a:ext cx="1504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C22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D19317-6973-4EF1-9613-9BFC7B65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387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RAG 平台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D4452D-EE11-4374-A7CB-B3594368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19650"/>
            <a:ext cx="1504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C22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03AA3A-B62C-476E-AC37-4604499F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387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工作流编辑器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CF8A4F-3911-45C2-B24F-09B1AEDF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819650"/>
            <a:ext cx="1504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C22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8C27FA-9C78-4077-8503-C69B4718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387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模型市场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B5AD0E-132C-4E72-98CC-6E35FD5E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边界原则：不能直接帮助“安装、运行、调用、行动”的能力，不进入 Core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A69D4D-C30C-47E9-AAFC-BC7699A1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43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413766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4A0004-075E-4ABD-B260-9199DE78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rPr>
              <a:t>PLATFORM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B4AA0F-26EC-47D6-99D3-2215A695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三种设备，同一调用语义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C3BBEC-2172-4547-BDE9-32FF1B73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00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2D2A75-F8BB-4B2B-AFA4-12A49A54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5A80F9-172B-4F5B-88E1-C79E73B3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33625"/>
            <a:ext cx="9010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1EBC54-D804-4659-9AAB-6286C64F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47850"/>
            <a:ext cx="1009650" cy="1009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227"/>
          </a:solidFill>
          <a:ln xmlns:a="http://schemas.openxmlformats.org/drawingml/2006/main" w="28575">
            <a:solidFill>
              <a:srgbClr val="3DDC9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257460-4B5D-4285-BBC6-67705346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0955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963511-C3A0-4F7C-8D02-53C971CF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Windows / Linux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E3E5B6-D2B4-4679-A44E-EEE19405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0045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完整 Node</a:t>
            </a:r>
          </a:p>
          <a:p xmlns:a="http://schemas.openxmlformats.org/drawingml/2006/main">
            <a:pPr algn="ctr">
              <a:defRPr sz="120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本地模型 + API 服务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6A0869-2FEB-43D1-9143-AA320C72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847850"/>
            <a:ext cx="1009650" cy="1009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227"/>
          </a:solidFill>
          <a:ln xmlns:a="http://schemas.openxmlformats.org/drawingml/2006/main" w="28575">
            <a:solidFill>
              <a:srgbClr val="FFB45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FB0446-51D3-42BC-B4AC-33AD3489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0955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324A9B-80D9-4BEC-BAD1-D2FD1AE9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051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Android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1831FB-126E-4406-BFC2-6BB3C5FD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0045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本地小模型</a:t>
            </a:r>
          </a:p>
          <a:p xmlns:a="http://schemas.openxmlformats.org/drawingml/2006/main">
            <a:pPr algn="ctr">
              <a:defRPr sz="120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或连接附近 Node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637282-33C1-4417-AE73-3A7D36DE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47850"/>
            <a:ext cx="1009650" cy="1009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227"/>
          </a:solidFill>
          <a:ln xmlns:a="http://schemas.openxmlformats.org/drawingml/2006/main" w="28575">
            <a:solidFill>
              <a:srgbClr val="FF6B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CFF250-DBF5-47F8-BDA4-830688B1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0955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6B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6B6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0B9987-435F-4A77-8DE6-DD11FEF2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051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ESP32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ED313D-1675-4A63-8E3F-D670ACBF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0045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轻量 Client</a:t>
            </a:r>
          </a:p>
          <a:p xmlns:a="http://schemas.openxmlformats.org/drawingml/2006/main">
            <a:pPr algn="ctr">
              <a:defRPr sz="120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采集 + 调用 + 执行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9D7652-CC15-44B0-BF4B-1F668909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62500"/>
            <a:ext cx="9448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C2227"/>
          </a:solidFill>
          <a:ln xmlns:a="http://schemas.openxmlformats.org/drawingml/2006/main" w="9525">
            <a:solidFill>
              <a:srgbClr val="2C34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242F68-AF28-4F71-896C-D6A58BAC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943475"/>
            <a:ext cx="883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同一个 session_id  ·  同一套 invoke 协议  ·  同一种 tool_call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04A2B0-751C-4A7B-92F5-6524F9C9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67325"/>
            <a:ext cx="883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rPr>
              <a:t>执行位置改变，业务语义不改变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DDEC0F-E972-49D8-960E-500479C1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ShuFu v0.1 · 2026-06-19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DD2DC5-3D66-4B10-B7B3-6EA7C940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43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204125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AA704D-ED69-4EF8-B79C-DCE49E13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D02DA-1914-498F-9359-EE2F6C57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极薄核心，把复杂性留在可替换边界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533FFD-CA97-405D-81AA-DD173139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00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FA8A8-B71B-4234-81D0-BEA1E233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F419E5-CB00-4EF1-9A9B-A134693C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68506B-40BB-44FD-AED6-9D908EB5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619250"/>
            <a:ext cx="9620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5191D"/>
          </a:solidFill>
          <a:ln xmlns:a="http://schemas.openxmlformats.org/drawingml/2006/main" w="9525">
            <a:solidFill>
              <a:srgbClr val="2C343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0CFB33-E3ED-40A4-9CBA-6836A2FE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771650"/>
            <a:ext cx="29654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B0D0F"/>
          </a:solidFill>
          <a:ln xmlns:a="http://schemas.openxmlformats.org/drawingml/2006/main" w="9525">
            <a:solidFill>
              <a:srgbClr val="F4EF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E4F561-31D3-4E2B-85E3-90CFEA08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809750"/>
            <a:ext cx="281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CLI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C05B59-BA34-4295-AB56-1A987E5E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9550" y="1771650"/>
            <a:ext cx="29654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B0D0F"/>
          </a:solidFill>
          <a:ln xmlns:a="http://schemas.openxmlformats.org/drawingml/2006/main" w="9525">
            <a:solidFill>
              <a:srgbClr val="F4EF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252903-1A2F-46F8-9CFE-7E755EF7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5750" y="1809750"/>
            <a:ext cx="281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Android App / AAR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17BB87-6D27-47E5-8A82-C7B29491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6450" y="1771650"/>
            <a:ext cx="29654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B0D0F"/>
          </a:solidFill>
          <a:ln xmlns:a="http://schemas.openxmlformats.org/drawingml/2006/main" w="9525">
            <a:solidFill>
              <a:srgbClr val="F4EF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100403-896E-4CF8-A8FE-113ABD42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2650" y="1809750"/>
            <a:ext cx="281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ESP-IDF SDK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D3476E-B653-4330-B7B5-E2122FA6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rPr>
              <a:t>SHUFU 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1A74BA-7CC1-4273-839B-0E27FC17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533650"/>
            <a:ext cx="96202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83C31"/>
          </a:solidFill>
          <a:ln xmlns:a="http://schemas.openxmlformats.org/drawingml/2006/main" w="9525">
            <a:solidFill>
              <a:srgbClr val="2C343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C9AB53-F3AC-4AB2-9816-805C0724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686050"/>
            <a:ext cx="21812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B0D0F"/>
          </a:solidFill>
          <a:ln xmlns:a="http://schemas.openxmlformats.org/drawingml/2006/main" w="9525">
            <a:solidFill>
              <a:srgbClr val="3DDC9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3DE89E-FFE9-4B84-BD78-13CC2F03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724150"/>
            <a:ext cx="2028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Protocol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D1E148-82F9-43F8-BA78-CC0EC924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86050"/>
            <a:ext cx="21812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B0D0F"/>
          </a:solidFill>
          <a:ln xmlns:a="http://schemas.openxmlformats.org/drawingml/2006/main" w="9525">
            <a:solidFill>
              <a:srgbClr val="3DDC9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F05336-9C22-46B8-A481-A358D58C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724150"/>
            <a:ext cx="2028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Node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A7DF84-2343-48D4-9848-E9038B2A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86050"/>
            <a:ext cx="21812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B0D0F"/>
          </a:solidFill>
          <a:ln xmlns:a="http://schemas.openxmlformats.org/drawingml/2006/main" w="9525">
            <a:solidFill>
              <a:srgbClr val="3DDC9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6FE456-2788-4DEF-A7E8-5BD828ED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24150"/>
            <a:ext cx="2028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MemoryStore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8E6C35-E14E-4499-969E-F2B4969C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686050"/>
            <a:ext cx="21812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B0D0F"/>
          </a:solidFill>
          <a:ln xmlns:a="http://schemas.openxmlformats.org/drawingml/2006/main" w="9525">
            <a:solidFill>
              <a:srgbClr val="3DDC9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30C8B1-A893-4B82-BEB6-754445B7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724150"/>
            <a:ext cx="2028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ToolRegistry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A79EA7-164A-455D-857F-39C6D3DE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RUNTIME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44D678-8ECE-4D1F-9930-A57AE1A5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43300"/>
            <a:ext cx="96202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5191D"/>
          </a:solidFill>
          <a:ln xmlns:a="http://schemas.openxmlformats.org/drawingml/2006/main" w="9525">
            <a:solidFill>
              <a:srgbClr val="2C343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22FDDA-FA2D-40C4-9683-9517911B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695700"/>
            <a:ext cx="29654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B0D0F"/>
          </a:solidFill>
          <a:ln xmlns:a="http://schemas.openxmlformats.org/drawingml/2006/main" w="9525">
            <a:solidFill>
              <a:srgbClr val="FFB45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16A56B-7F81-4B09-9C0C-062E0774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733800"/>
            <a:ext cx="281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echo / tests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2D8DB0-3C22-46AE-BF25-CBFA45A8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9550" y="3695700"/>
            <a:ext cx="29654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B0D0F"/>
          </a:solidFill>
          <a:ln xmlns:a="http://schemas.openxmlformats.org/drawingml/2006/main" w="9525">
            <a:solidFill>
              <a:srgbClr val="FFB45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2565DB-AD4F-4F61-86DD-3BD2CAE0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5750" y="3733800"/>
            <a:ext cx="281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llama.cpp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4A47CE-2371-4FC4-BC1E-A38921AB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6450" y="3695700"/>
            <a:ext cx="29654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B0D0F"/>
          </a:solidFill>
          <a:ln xmlns:a="http://schemas.openxmlformats.org/drawingml/2006/main" w="9525">
            <a:solidFill>
              <a:srgbClr val="FFB45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1FC69F-C843-449F-9DD7-306A7854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2650" y="3733800"/>
            <a:ext cx="281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OpenAI-compatible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DC9E3D-B4C8-47BC-9676-0DF90A27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6B6B"/>
                </a:solidFill>
                <a:latin typeface="Microsoft YaHei"/>
                <a:ea typeface="Microsoft YaHei"/>
                <a:cs typeface="Microsoft YaHei"/>
              </a:rPr>
              <a:t>STORAGE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16483E-ABAA-45DE-B0B2-33585FE7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552950"/>
            <a:ext cx="9620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5191D"/>
          </a:solidFill>
          <a:ln xmlns:a="http://schemas.openxmlformats.org/drawingml/2006/main" w="9525">
            <a:solidFill>
              <a:srgbClr val="2C343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7E2DA8-1CD3-4CF4-905C-EC72E9AB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705350"/>
            <a:ext cx="29654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B0D0F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F7471D-F4E0-46D4-80DD-705F1CC0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743450"/>
            <a:ext cx="281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SQLite sessions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CA252B-378F-4CCC-85C4-58E19C5A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9550" y="4705350"/>
            <a:ext cx="29654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B0D0F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9187AA-C201-4F7D-8CAB-43B6C466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5750" y="4743450"/>
            <a:ext cx="281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SHA-256 artifacts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F94981-32F5-4485-8EB9-CE5B7D81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6450" y="4705350"/>
            <a:ext cx="29654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B0D0F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4FADFC-B538-417C-AC65-43A8A19A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2650" y="4743450"/>
            <a:ext cx="281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Portable Bundle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671467-DFB7-4233-80D4-2138678B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543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v0.1 标准库参考实现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94F8318-9988-4778-849B-2B518B4D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543550"/>
            <a:ext cx="708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→ 后续可替换为 C/C++ Core，不改变协议与记忆格式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FF3283-F079-48DE-B036-65A3FBC0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ShuFu v0.1 · 2026-06-19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05473F5-2E94-4755-9882-CEC4FE53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43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642917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CF2800-2C0A-4468-B5A7-4C0A2EB5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rPr>
              <a:t>MEMORY RELAY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9EB01A-A2AE-40A0-BF11-5015042D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记忆不是“人格黑箱”，而是可搬运的工作现场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73BA66-3285-4ACD-95B2-FE2BA5A0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00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D0C26-1373-4430-BA09-C3A713B1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B7ACB8-ED0A-4425-9CFE-08C9091D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2952750" cy="31432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5191D"/>
          </a:solidFill>
          <a:ln xmlns:a="http://schemas.openxmlformats.org/drawingml/2006/main" w="9525">
            <a:solidFill>
              <a:srgbClr val="2C34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53F77F-2040-45C0-B39E-ED6971E0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990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3C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E8C652-B4B8-4B40-BACC-7E3E2107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rPr>
              <a:t>WINDOWS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C5908E-F925-4DCE-A2CC-5AF6F226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生成与索引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B6C6EB-7F2D-4455-9D98-68BBD8CF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2247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• session 消息</a:t>
            </a:r>
          </a:p>
          <a:p xmlns:a="http://schemas.openxmlformats.org/drawingml/2006/main">
            <a:pPr algn="l">
              <a:defRPr sz="1275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• 输出的 .md / 文档</a:t>
            </a:r>
          </a:p>
          <a:p xmlns:a="http://schemas.openxmlformats.org/drawingml/2006/main">
            <a:pPr algn="l">
              <a:defRPr sz="1275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• 内容哈希与元数据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97929B-6BBB-4633-9162-6F1819B7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720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rPr>
              <a:t>shufu memory export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B54170-1A2E-4CFC-BB41-30E5AF3D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38375"/>
            <a:ext cx="3333750" cy="20193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1C2227"/>
          </a:solidFill>
          <a:ln xmlns:a="http://schemas.openxmlformats.org/drawingml/2006/main" w="19050">
            <a:solidFill>
              <a:srgbClr val="FFB45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1D3B4C-03AB-4FB7-AD4E-F1A18304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193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PORTABLE MEMORY BUNDLE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1DA546-BE18-4E72-96E8-243E512E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57500"/>
            <a:ext cx="2876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schema_version: 1</a:t>
            </a:r>
          </a:p>
          <a:p xmlns:a="http://schemas.openxmlformats.org/drawingml/2006/main">
            <a:pPr algn="ctr">
              <a:defRPr sz="13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sessions + messages</a:t>
            </a:r>
          </a:p>
          <a:p xmlns:a="http://schemas.openxmlformats.org/drawingml/2006/main">
            <a:pPr algn="ctr">
              <a:defRPr sz="13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artifacts + Base64 content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981A3C-B745-4D4A-B38F-8B5730C3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48100"/>
            <a:ext cx="2876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显式导出 · 哈希校验 · 幂等导入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5E2E17-3186-4D4C-ACE0-FEC32806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57350"/>
            <a:ext cx="3619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5191D"/>
          </a:solidFill>
          <a:ln xmlns:a="http://schemas.openxmlformats.org/drawingml/2006/main" w="9525">
            <a:solidFill>
              <a:srgbClr val="2C34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D037C9-5731-44DD-98FE-86902DE6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66900"/>
            <a:ext cx="952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3C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D99400-1629-41D9-9D73-C08CD3BC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859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rPr>
              <a:t>ANDROID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CE7B08-7918-4265-818E-204C6578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622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继续工作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643F7E-8B24-433A-91CF-504DB339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95600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导入同一 session</a:t>
            </a:r>
          </a:p>
          <a:p xmlns:a="http://schemas.openxmlformats.org/drawingml/2006/main">
            <a:pPr algn="l">
              <a:defRPr sz="1275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读取 Windows 产物</a:t>
            </a:r>
          </a:p>
          <a:p xmlns:a="http://schemas.openxmlformats.org/drawingml/2006/main">
            <a:pPr algn="l">
              <a:defRPr sz="1275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继续生成、修改与调用工具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442DF4-C415-4976-99D5-36722207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672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rPr>
              <a:t>同一 session_id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CDFC75-866A-47D9-A275-534E009F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813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C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6D3FD5-DACB-4ED4-AE1B-5190DFAF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813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C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A5FC02-8765-48E7-B530-872C73B2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C2227"/>
          </a:solidFill>
          <a:ln xmlns:a="http://schemas.openxmlformats.org/drawingml/2006/main" w="9525">
            <a:solidFill>
              <a:srgbClr val="2C34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3767B2-B793-4CF0-8C24-5E754BDE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前期预留：版本字段、不可变 ID、增量游标接口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16E0A4-4824-4A5A-AF9B-17CB3791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53050"/>
            <a:ext cx="518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暂缓：账号云同步 / 向量库 / 自动长期事实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9B305E-D656-4FFD-A153-7BE0E01D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ShuFu v0.1 · 2026-06-19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7E2E9F-4CFA-4D1A-BF94-E0A128E4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43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553163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4AA6EE-854B-4F3C-A01E-73B134B2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rPr>
              <a:t>MINIMAL SECURITY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445BC5-55B5-4258-8DC4-F0ED464B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安全不做成平台，只守住默认边界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94EDA8-FDA6-4B5F-AF51-D8E9C8F2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00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225FA5-807B-4170-A4EE-E92DCAD5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C7A23-B8BD-4A12-98B0-E692D900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42900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15191D"/>
          </a:solidFill>
          <a:ln xmlns:a="http://schemas.openxmlformats.org/drawingml/2006/main" w="9525">
            <a:solidFill>
              <a:srgbClr val="2C34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E768B8-DB60-42C3-A845-CB559CAB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DC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6875BD-9B8F-4741-B2F1-461458C7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CB7791-1801-4125-9AD7-CC790D4D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3835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本机默认可信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F987FC-F601-4C7E-929E-7489BF99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2971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127.0.0.1</a:t>
            </a:r>
          </a:p>
          <a:p xmlns:a="http://schemas.openxmlformats.org/drawingml/2006/main">
            <a:pPr algn="l">
              <a:defRPr sz="1275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零鉴权、零配置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D640B6-E2E6-4D04-8A1C-1CF80487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90700"/>
            <a:ext cx="342900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15191D"/>
          </a:solidFill>
          <a:ln xmlns:a="http://schemas.openxmlformats.org/drawingml/2006/main" w="9525">
            <a:solidFill>
              <a:srgbClr val="2C343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38E559-56D8-44EE-A73D-8635E2F5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002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E44CAA-2C65-4C65-84F4-CF3CD592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574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9D7BF6-79A4-41DC-B8F4-120C2D6B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3835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局域网显式开启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6118BA-E49D-4222-99DD-80CE8416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00350"/>
            <a:ext cx="2971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必须传入</a:t>
            </a:r>
          </a:p>
          <a:p xmlns:a="http://schemas.openxmlformats.org/drawingml/2006/main">
            <a:pPr algn="l">
              <a:defRPr sz="1275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--allow-lan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201C21-BDD9-4B27-9736-38E0D24A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90700"/>
            <a:ext cx="342900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15191D"/>
          </a:solidFill>
          <a:ln xmlns:a="http://schemas.openxmlformats.org/drawingml/2006/main" w="9525">
            <a:solidFill>
              <a:srgbClr val="2C34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B8AC67-80CE-4732-85CC-C99DC7D1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002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698F9A-7AEA-4B7E-8946-AA4BAC72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574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285FB7-BD14-4FF4-A4F6-F1230267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3835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可选共享令牌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CAEB00-0E2C-4065-A5FB-F16929ED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00350"/>
            <a:ext cx="2971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单个 Bearer Token</a:t>
            </a:r>
          </a:p>
          <a:p xmlns:a="http://schemas.openxmlformats.org/drawingml/2006/main">
            <a:pPr algn="l">
              <a:defRPr sz="1275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没有账号体系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9431E1-C7DA-4CCE-BE1A-B1282A49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主动删掉的复杂度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20FBB1-3879-4570-AD08-7A2319A3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8669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C22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E83369-ED8F-41D0-901A-3937D2F4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6730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用户/角色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0F0486-3A82-487B-8BDD-8FFE943E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048250"/>
            <a:ext cx="18669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C22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7F21AE-F668-4C3B-AB31-9E0A097F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06730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RBAC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ECF0BB-28B2-47B9-AF6F-C39B0C11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048250"/>
            <a:ext cx="18669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C22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8EDE6E-5B74-4C87-B4F9-00D3130C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06730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证书中心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62D77E-8CF8-4060-9E96-F79388C8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048250"/>
            <a:ext cx="18669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C22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DC7E95-3082-4B2D-AFC4-0AEB2513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06730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设备注册服务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3B8571-9BAA-4745-9CD2-0E9065EE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048250"/>
            <a:ext cx="18669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C22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1A6577-0E0E-4817-B465-26A95FAD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06730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外部身份依赖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3811FA-2CE3-4499-B078-83F2147E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原则：不因“未来安全平台”阻塞 v0.1；也不以默认暴露端口换取表面简洁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7ADB48-41E5-4D4F-87FE-6F16F942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43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529068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36D025-6B4F-4236-93D3-0685A131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rPr>
              <a:t>V0.1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427EA5-7C3F-4EDB-B3D4-68119669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四个命令，完成运行、服务与记忆接力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0490D7-3262-4E85-91C2-5EDEFD38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00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AA7E91-9107-40DB-A489-0DA9FCAB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93462-C100-491E-84D6-3BEDF2FF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0104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80A0C"/>
          </a:solidFill>
          <a:ln xmlns:a="http://schemas.openxmlformats.org/drawingml/2006/main" w="9525">
            <a:solidFill>
              <a:srgbClr val="2C34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51504-4174-43BB-968E-FCF31C17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2880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PS C:\&gt; shufu doctor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FD4CC7-FBCA-4620-9AC7-263B01B0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rPr>
              <a:t>status: ready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010D4F-C8BF-4AE9-AEEB-9036AD1F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PS C:\&gt; shufu run "写项目说明" --session project-a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66F256-11F6-42CB-81A2-1D5BD42D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rPr>
              <a:t>ShuFu[assistant]: 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1C56D3-8D74-482B-81C6-FC4BFF52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PS C:\&gt; shufu run "继续完善" --session project-a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3690D5-BBE8-4206-A10C-A64FF192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已延续 1 轮上下文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B20572-EB6B-4A23-97A7-7520CFFE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PS C:\&gt; shufu memory export memory.json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0884F5-ABFE-4777-A830-2527C55B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rPr>
              <a:t>portable bundle written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8DF7BF-117D-490A-9DEE-EE17C953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81150"/>
            <a:ext cx="35814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5191D"/>
          </a:solidFill>
          <a:ln xmlns:a="http://schemas.openxmlformats.org/drawingml/2006/main" w="9525">
            <a:solidFill>
              <a:srgbClr val="2C343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50FB2E-CA03-46DF-AA92-BE4368A0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335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RUN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B60418-F52D-4110-B89F-19F9481F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14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直接使用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F3D841-8B93-42C6-878F-5D3BC674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81275"/>
            <a:ext cx="35814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5191D"/>
          </a:solidFill>
          <a:ln xmlns:a="http://schemas.openxmlformats.org/drawingml/2006/main" w="9525">
            <a:solidFill>
              <a:srgbClr val="2C34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4BA476-4308-40E1-8232-53BA6FFE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3367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SERVE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8E0DB1-A501-41C8-B443-EE5E7629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146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成为节点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8A4288-D525-434F-8941-0F8573E4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81400"/>
            <a:ext cx="35814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5191D"/>
          </a:solidFill>
          <a:ln xmlns:a="http://schemas.openxmlformats.org/drawingml/2006/main" w="9525">
            <a:solidFill>
              <a:srgbClr val="2C34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C38B77-E2B7-49EE-9759-75DDC5B9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338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INVOKE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DB7595-5C87-4219-9632-5FE0F149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714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远程调用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440B3A-C7D1-4AA4-840E-6B162467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81525"/>
            <a:ext cx="35814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83C31"/>
          </a:solidFill>
          <a:ln xmlns:a="http://schemas.openxmlformats.org/drawingml/2006/main" w="9525">
            <a:solidFill>
              <a:srgbClr val="2C34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EFF4FB-C29B-4CAF-9F60-F17F9AA7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3392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rPr>
              <a:t>MEMORY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25DC21-977D-4DC8-AA90-03D5E5A3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7148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跨端延续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0D5119-00CB-442D-9320-3103FE78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ShuFu v0.1 · 2026-06-19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303199-BCEB-40D1-818F-1650E42E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43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770296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889089-FF7A-41DD-833C-40B7D2E3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rPr>
              <a:t>BUILT, NOT IMAGINED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6C24C-8677-458C-8A85-39D43517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v0.1 已有可运行代码与验证证据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B9304F-B164-4B7F-B55C-0A84B041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00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A5682D-DCB6-4768-9199-19AF9E3A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2E22CB-79F4-432B-980A-9C1281ED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238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83C31"/>
          </a:solidFill>
          <a:ln xmlns:a="http://schemas.openxmlformats.org/drawingml/2006/main" w="9525">
            <a:solidFill>
              <a:srgbClr val="2C34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257B40-EF54-42D5-9C37-02F78767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9AA7C2-387E-4312-8517-0FE8A861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单元测试全部通过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7A9A44-F680-48C7-819F-876ADD39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247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记忆 · 协议 · Node</a:t>
            </a:r>
          </a:p>
          <a:p xmlns:a="http://schemas.openxmlformats.org/drawingml/2006/main">
            <a:pPr algn="l">
              <a:defRPr sz="120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工具边界 · LAN 守卫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1AC360-72B1-4F4D-8B9B-BAF54576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7200"/>
            <a:ext cx="876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DDC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8D21DF-9636-47A3-8301-5D4B5B5D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8625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BA51ED-54B8-4B09-A15E-A7231959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619250"/>
            <a:ext cx="35433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5191D"/>
          </a:solidFill>
          <a:ln xmlns:a="http://schemas.openxmlformats.org/drawingml/2006/main" w="9525">
            <a:solidFill>
              <a:srgbClr val="2C34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256FB2-5729-4C78-AE32-B7A4B046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240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E2E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1EB3F6-97D0-4E9B-A7DD-5544B361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86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后台 HTTP Node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736E2C-ECD5-4BFF-AEBA-014E2365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19450"/>
            <a:ext cx="2781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真实进程启动</a:t>
            </a:r>
          </a:p>
          <a:p xmlns:a="http://schemas.openxmlformats.org/drawingml/2006/main">
            <a:pPr algn="l">
              <a:defRPr sz="120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Bearer Token 调用</a:t>
            </a:r>
          </a:p>
          <a:p xmlns:a="http://schemas.openxmlformats.org/drawingml/2006/main">
            <a:pPr algn="l">
              <a:defRPr sz="120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同 session 连续响应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A47866-1FBC-4B9D-9764-E65CBD7D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67200"/>
            <a:ext cx="876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1FDE43-DBDD-4202-B636-EF885BD5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8625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930BCE-91A0-43B6-BBAE-93C18B90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19250"/>
            <a:ext cx="37338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5191D"/>
          </a:solidFill>
          <a:ln xmlns:a="http://schemas.openxmlformats.org/drawingml/2006/main" w="9525">
            <a:solidFill>
              <a:srgbClr val="2C34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9E4DF1-F233-4B31-BBFE-2F205441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2405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6B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6B6B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5DC8A1-A92E-4996-906A-33202291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81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默认外部依赖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5FDE90-2300-4DE7-A2B1-F6698A9A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95650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Python 标准库即可启动</a:t>
            </a:r>
          </a:p>
          <a:p xmlns:a="http://schemas.openxmlformats.org/drawingml/2006/main">
            <a:pPr algn="l">
              <a:defRPr sz="120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llama.cpp 为可选 runtime</a:t>
            </a:r>
          </a:p>
          <a:p xmlns:a="http://schemas.openxmlformats.org/drawingml/2006/main">
            <a:pPr algn="l">
              <a:defRPr sz="120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API runtime 可替换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9F568F-8EBF-460B-9B37-CF01E0E4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67200"/>
            <a:ext cx="990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C22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AE7C74-ED76-4C93-AAAD-8FC80FD6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8625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rPr>
              <a:t>READY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22CE91-2F67-4048-9E6A-35B4AC9F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C2227"/>
          </a:solidFill>
          <a:ln xmlns:a="http://schemas.openxmlformats.org/drawingml/2006/main" w="9525">
            <a:solidFill>
              <a:srgbClr val="2C34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A34DA4-5004-4E16-9CD3-0A7C1118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1051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已验证：Windows CLI 冒烟测试 · 文档产物保存 · Bundle 导出 · 局域网误开放拦截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605F9B-4ED1-4059-A723-C5892A63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Source: local ShuFu v0.1 build and test run, 2026-06-19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1EB9BF-1618-4208-B224-EF055E3A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43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136430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0D64E3-2F7E-4A25-ACA3-40BDA75D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rPr>
              <a:t>AGENT LITE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DE6D6-6DC0-4F57-B6D5-051BA3EF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现在预留记忆，之后增加受控行动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D51D3-7F6D-4E7E-8599-AB537F68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00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E0B8A-C91F-42FB-AC0D-D14CC94D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882370-36B4-422D-B8D0-EA0D6B74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C2227"/>
          </a:solidFill>
          <a:ln xmlns:a="http://schemas.openxmlformats.org/drawingml/2006/main" w="9525">
            <a:solidFill>
              <a:srgbClr val="2C34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7E2A9-91E0-4BBE-8EE7-514A1BB1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7335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83C31"/>
          </a:solidFill>
          <a:ln xmlns:a="http://schemas.openxmlformats.org/drawingml/2006/main" w="9525">
            <a:solidFill>
              <a:srgbClr val="2C343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429163-2231-4586-AD98-F09D13A8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5262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rPr>
              <a:t>会话记忆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FC327A-D4FF-49BA-A911-5D6357F6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5262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7BF90E-0D03-4A19-B903-727DE82D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85950"/>
            <a:ext cx="17335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83C31"/>
          </a:solidFill>
          <a:ln xmlns:a="http://schemas.openxmlformats.org/drawingml/2006/main" w="9525">
            <a:solidFill>
              <a:srgbClr val="2C34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0EF39C-933C-4FB2-8D07-19B9F788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95262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rPr>
              <a:t>显式产物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38E59F-180D-4651-BE42-601CCF31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5262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381F47-CCA5-42ED-A618-EEACF3A7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85950"/>
            <a:ext cx="17335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5191D"/>
          </a:solidFill>
          <a:ln xmlns:a="http://schemas.openxmlformats.org/drawingml/2006/main" w="9525">
            <a:solidFill>
              <a:srgbClr val="2C34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1BD999-915A-4352-914E-A21A731B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95262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模型判断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178487-D8DF-4E14-A7DB-5207101C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5262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19E701-899D-4B47-985F-F0C08313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885950"/>
            <a:ext cx="17335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5191D"/>
          </a:solidFill>
          <a:ln xmlns:a="http://schemas.openxmlformats.org/drawingml/2006/main" w="9525">
            <a:solidFill>
              <a:srgbClr val="FFB45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461673-EDA9-492C-8532-6C8E2E1F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5262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tool_call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5A402A-1B37-4959-946F-00F8AC75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5262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FFCAEB-A909-4356-B727-5CDC0EAC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885950"/>
            <a:ext cx="17335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5191D"/>
          </a:solidFill>
          <a:ln xmlns:a="http://schemas.openxmlformats.org/drawingml/2006/main" w="9525">
            <a:solidFill>
              <a:srgbClr val="2C34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87E681-4C03-4783-9A97-92587D53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95262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宿主函数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B6276C-D9E0-4D5A-A7AE-3DAEA6A2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518160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5191D"/>
          </a:solidFill>
          <a:ln xmlns:a="http://schemas.openxmlformats.org/drawingml/2006/main" w="9525">
            <a:solidFill>
              <a:srgbClr val="2C34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BBCA54-973B-4E5C-9220-4940F99C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rPr>
              <a:t>v0.1 已预留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799490-D5F7-49DD-B614-81EBE219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4286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• session / artifact 数据模型</a:t>
            </a:r>
          </a:p>
          <a:p xmlns:a="http://schemas.openxmlformats.org/drawingml/2006/main">
            <a:pPr algn="l">
              <a:defRPr sz="1275" b="0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• ToolRegistry 与副作用标记</a:t>
            </a:r>
          </a:p>
          <a:p xmlns:a="http://schemas.openxmlformats.org/drawingml/2006/main">
            <a:pPr algn="l">
              <a:defRPr sz="1275" b="0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• max_steps / timeout 硬限制</a:t>
            </a:r>
          </a:p>
          <a:p xmlns:a="http://schemas.openxmlformats.org/drawingml/2006/main">
            <a:pPr algn="l">
              <a:defRPr sz="1275" b="0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• 协议 capabilities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00F232-D35B-48A3-B618-8EA48140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556260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5191D"/>
          </a:solidFill>
          <a:ln xmlns:a="http://schemas.openxmlformats.org/drawingml/2006/main" w="9525">
            <a:solidFill>
              <a:srgbClr val="2C34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7C43CA-5639-4976-8975-C897E5C8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v0.4 再启用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902A4A-6DAF-4801-A081-D5D3C894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14750"/>
            <a:ext cx="46863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• 有限 Agent 循环</a:t>
            </a:r>
          </a:p>
          <a:p xmlns:a="http://schemas.openxmlformats.org/drawingml/2006/main">
            <a:pPr algn="l">
              <a:defRPr sz="1275" b="0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• 用户选择的文档注入</a:t>
            </a:r>
          </a:p>
          <a:p xmlns:a="http://schemas.openxmlformats.org/drawingml/2006/main">
            <a:pPr algn="l">
              <a:defRPr sz="1275" b="0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• 摘要与长期事实分层</a:t>
            </a:r>
          </a:p>
          <a:p xmlns:a="http://schemas.openxmlformats.org/drawingml/2006/main">
            <a:pPr algn="l">
              <a:defRPr sz="1275" b="0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• Android / ESP32 工具回传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43BC53-34CA-42A8-B453-742ED02E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硬边界：不执行模型生成的任意代码；工具必须由宿主预注册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9EC102-843B-4270-9F91-E513BC10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43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432743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C04A7E-D762-4DBB-A7DF-B75C4F90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72AE63-551D-489B-83E0-32C0C6FE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先让桌面跑通，再把智慧带到设备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1BC83B-C2D6-4430-89AC-0CF5A767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00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3B35E9-A5F9-4CC4-8746-283EF26E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A29D49-48AC-43D7-9307-884C9999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81375"/>
            <a:ext cx="9982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70E461-47D5-4477-8C0B-EDA026F3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337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38100">
            <a:solidFill>
              <a:srgbClr val="3DDC9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5D2554-4877-4496-B3B1-7043041A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rPr>
              <a:t>v0.1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BD623D-9208-4D51-AFFC-2D2A766E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81000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Desktop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3BFAC5-26C4-452B-B090-E88CB971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248150"/>
            <a:ext cx="1562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CLI · Node</a:t>
            </a:r>
          </a:p>
          <a:p xmlns:a="http://schemas.openxmlformats.org/drawingml/2006/main">
            <a:pPr algn="ctr">
              <a:defRPr sz="105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Memory Bundle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6114CE-3392-4F48-B450-9D6AFC9D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337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38100">
            <a:solidFill>
              <a:srgbClr val="FFB45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0B67D0-3244-4BA3-ADFE-40908D4C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050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v0.2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779632-6341-4FC4-8F28-9EAE371D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1000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Android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FD674C-F6AA-4F19-AEED-F673D512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248150"/>
            <a:ext cx="1562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App / AAR</a:t>
            </a:r>
          </a:p>
          <a:p xmlns:a="http://schemas.openxmlformats.org/drawingml/2006/main">
            <a:pPr algn="ctr">
              <a:defRPr sz="105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局域网发现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031D3F-F821-4F3D-B2A2-AD9A2431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337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38100">
            <a:solidFill>
              <a:srgbClr val="FF6B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7E4D36-CF84-424F-BCD4-C1FC4A1B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050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6B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6B6B"/>
                </a:solidFill>
                <a:latin typeface="Microsoft YaHei"/>
                <a:ea typeface="Microsoft YaHei"/>
                <a:cs typeface="Microsoft YaHei"/>
              </a:rPr>
              <a:t>v0.3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28FB4F-3289-4D16-962E-7D9E8C82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81000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ESP32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6271E1-B63F-4656-8116-3B991DD5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248150"/>
            <a:ext cx="1562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ESP-IDF SDK</a:t>
            </a:r>
          </a:p>
          <a:p xmlns:a="http://schemas.openxmlformats.org/drawingml/2006/main">
            <a:pPr algn="ctr">
              <a:defRPr sz="105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工具回调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0867DA-49DC-4042-AB0D-57E487F1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337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38100">
            <a:solidFill>
              <a:srgbClr val="FFB4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4B18E4-555A-4977-B1E5-18C79961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050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v0.4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8CA95A-5A2C-439E-93CE-1BECE738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1000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Agent Lite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CCFF9A-00F6-446F-A176-3661397C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48150"/>
            <a:ext cx="1562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有限循环</a:t>
            </a:r>
          </a:p>
          <a:p xmlns:a="http://schemas.openxmlformats.org/drawingml/2006/main">
            <a:pPr algn="ctr">
              <a:defRPr sz="105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摘要记忆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17B211-B34E-4145-A443-038F5D79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337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38100">
            <a:solidFill>
              <a:srgbClr val="3DDC9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364476-7B69-496F-92C0-C64B5AAD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050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rPr>
              <a:t>v1.0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4076A9-8AFF-44DD-B762-43147A7B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Stable Core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4D804A-E253-4308-921E-D24DA2B1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248150"/>
            <a:ext cx="1562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C/C++ Core</a:t>
            </a:r>
          </a:p>
          <a:p xmlns:a="http://schemas.openxmlformats.org/drawingml/2006/main">
            <a:pPr algn="ctr">
              <a:defRPr sz="105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稳定协议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9B1F08-5368-44AC-9BFB-16ECF68C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83C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E716F1-F55A-48BB-9533-BC85F7D8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86400"/>
            <a:ext cx="1051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rPr>
              <a:t>每一步都保持：同一 invoke 语义 · 同一 session · Core 不依赖 Agent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A257F0-700C-4F10-A1DD-9DD43ED5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ShuFu v0.1 · 2026-06-19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2E64A3-F028-42F5-83E0-1728699C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43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244124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9C6079-FD31-46D5-BB45-7E3083E3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rPr>
              <a:t>THE OPEN-SOURCE TALISMAN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5296CF-21E5-449F-BA93-D6569575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704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把“鼠符”交给社区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04222-32F2-4139-8177-DB336945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协议开放 · 核心开放 · Roadmap 开放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2D0371-16E0-48AF-9EB2-7BF3D85D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219450" cy="21145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5191D"/>
          </a:solidFill>
          <a:ln xmlns:a="http://schemas.openxmlformats.org/drawingml/2006/main" w="9525">
            <a:solidFill>
              <a:srgbClr val="2C343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367062-5852-4519-97A2-0758E80A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8DDBF3-3CA2-4E30-8F61-D9A4C99D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今天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9931D-D935-4E0E-B516-D7BAC436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跑通 v0.1</a:t>
            </a:r>
          </a:p>
          <a:p xmlns:a="http://schemas.openxmlformats.org/drawingml/2006/main">
            <a:pPr algn="l">
              <a:defRPr sz="120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验证安装与连续记忆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8849A3-30E9-48BF-B912-1305A7B3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647950"/>
            <a:ext cx="3219450" cy="21145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5191D"/>
          </a:solidFill>
          <a:ln xmlns:a="http://schemas.openxmlformats.org/drawingml/2006/main" w="9525">
            <a:solidFill>
              <a:srgbClr val="2C34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AF4891-6B63-4101-BCC9-75F2165E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C884BF-1D99-48B3-B8C3-2E8C1C3D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33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14F50D-7071-4D1A-8B2F-4CE2CFD7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481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Android 接力</a:t>
            </a:r>
          </a:p>
          <a:p xmlns:a="http://schemas.openxmlformats.org/drawingml/2006/main">
            <a:pPr algn="l">
              <a:defRPr sz="120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ESP32 获得行动能力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CDC504-9EF6-4737-8A5C-95D87AE7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647950"/>
            <a:ext cx="4076700" cy="21145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83C31"/>
          </a:solidFill>
          <a:ln xmlns:a="http://schemas.openxmlformats.org/drawingml/2006/main" w="9525">
            <a:solidFill>
              <a:srgbClr val="2C34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C17B2B-D375-4667-9A22-90F3845B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575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CB60D5-9B94-450C-8702-B273575D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337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共同目标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E27ECF-4DF3-429A-AB7A-4A1C299AC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4810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一次安装</a:t>
            </a:r>
          </a:p>
          <a:p xmlns:a="http://schemas.openxmlformats.org/drawingml/2006/main">
            <a:pPr algn="l">
              <a:defRPr sz="13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让每台设备获得智慧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3AF1EA-5FF8-46A8-B01D-684491AD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4EFE6"/>
                </a:solidFill>
                <a:latin typeface="Microsoft YaHei"/>
                <a:ea typeface="Microsoft YaHei"/>
                <a:cs typeface="Microsoft YaHei"/>
              </a:rPr>
              <a:t>ShuFu / 鼠符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A9362D-E612-4C4E-9A21-9177080D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Bring intelligence to every device.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585274-2A01-4B17-AF2B-367EE983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00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9AA2AA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450731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2026-06-18T18:14:37.4210000Z</dcterms:created>
  <dcterms:modified xsi:type="dcterms:W3CDTF">2026-06-18T18:14:37.4210000Z</dcterms:modified>
</coreProperties>
</file>